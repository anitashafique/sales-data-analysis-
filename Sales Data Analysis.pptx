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98" r:id="rId5"/>
    <p:sldId id="300" r:id="rId6"/>
    <p:sldId id="301" r:id="rId7"/>
    <p:sldId id="302" r:id="rId8"/>
    <p:sldId id="303" r:id="rId9"/>
    <p:sldId id="304" r:id="rId10"/>
    <p:sldId id="305" r:id="rId11"/>
    <p:sldId id="306" r:id="rId12"/>
    <p:sldId id="307" r:id="rId13"/>
    <p:sldId id="308" r:id="rId14"/>
    <p:sldId id="30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9" autoAdjust="0"/>
  </p:normalViewPr>
  <p:slideViewPr>
    <p:cSldViewPr snapToGrid="0">
      <p:cViewPr varScale="1">
        <p:scale>
          <a:sx n="67" d="100"/>
          <a:sy n="67" d="100"/>
        </p:scale>
        <p:origin x="8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6/8/2023</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23437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6/8/2023</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40465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6/8/2023</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2783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6/8/2023</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88359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6/8/2023</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63925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6/8/2023</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68543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6/8/2023</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3393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6/8/2023</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771184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6/8/2023</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01613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6/8/2023</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6030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F0502020204030204"/>
              <a:ea typeface="+mn-ea"/>
              <a:cs typeface="+mn-cs"/>
            </a:endParaRPr>
          </a:p>
        </p:txBody>
      </p:sp>
      <p:pic>
        <p:nvPicPr>
          <p:cNvPr id="4" name="Picture 3" descr="A close up of a piece of paper with a pencil laying on top">
            <a:extLst>
              <a:ext uri="{FF2B5EF4-FFF2-40B4-BE49-F238E27FC236}">
                <a16:creationId xmlns:a16="http://schemas.microsoft.com/office/drawing/2014/main" id="{65810330-F0B5-43C9-BC34-094FFB5C0529}"/>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71470" y="-127612"/>
            <a:ext cx="12191980" cy="6858000"/>
          </a:xfrm>
          <a:prstGeom prst="rect">
            <a:avLst/>
          </a:prstGeom>
        </p:spPr>
      </p:pic>
      <p:sp>
        <p:nvSpPr>
          <p:cNvPr id="35" name="Rectangle 34">
            <a:extLst>
              <a:ext uri="{FF2B5EF4-FFF2-40B4-BE49-F238E27FC236}">
                <a16:creationId xmlns:a16="http://schemas.microsoft.com/office/drawing/2014/main" id="{C5373426-E26E-431D-959C-5DB96C0B6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12607" y="1238442"/>
            <a:ext cx="3635926" cy="4355751"/>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8123416" y="1475234"/>
            <a:ext cx="3214307" cy="2901694"/>
          </a:xfrm>
        </p:spPr>
        <p:txBody>
          <a:bodyPr anchor="b">
            <a:normAutofit/>
          </a:bodyPr>
          <a:lstStyle/>
          <a:p>
            <a:r>
              <a:rPr lang="en-US" sz="4400" dirty="0">
                <a:solidFill>
                  <a:schemeClr val="tx1"/>
                </a:solidFill>
              </a:rPr>
              <a:t>Sales Data Analysis </a:t>
            </a: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8127750" y="4608576"/>
            <a:ext cx="3205640" cy="774186"/>
          </a:xfrm>
        </p:spPr>
        <p:txBody>
          <a:bodyPr anchor="t">
            <a:normAutofit/>
          </a:bodyPr>
          <a:lstStyle/>
          <a:p>
            <a:pPr>
              <a:lnSpc>
                <a:spcPct val="100000"/>
              </a:lnSpc>
            </a:pPr>
            <a:r>
              <a:rPr lang="en-US" sz="1600" dirty="0"/>
              <a:t>Presentation</a:t>
            </a:r>
          </a:p>
        </p:txBody>
      </p:sp>
      <p:cxnSp>
        <p:nvCxnSpPr>
          <p:cNvPr id="37" name="Straight Connector 36">
            <a:extLst>
              <a:ext uri="{FF2B5EF4-FFF2-40B4-BE49-F238E27FC236}">
                <a16:creationId xmlns:a16="http://schemas.microsoft.com/office/drawing/2014/main" id="{96D07482-83A3-4451-943C-B469610829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76090" y="4508519"/>
            <a:ext cx="31089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EDC90921-9082-491B-940E-827D679F34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314396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C86D3-8FD1-4F47-A319-7D0542E48B2F}"/>
              </a:ext>
            </a:extLst>
          </p:cNvPr>
          <p:cNvSpPr>
            <a:spLocks noGrp="1"/>
          </p:cNvSpPr>
          <p:nvPr>
            <p:ph type="title"/>
          </p:nvPr>
        </p:nvSpPr>
        <p:spPr>
          <a:xfrm>
            <a:off x="1097280" y="286603"/>
            <a:ext cx="10058400" cy="1450757"/>
          </a:xfrm>
        </p:spPr>
        <p:txBody>
          <a:bodyPr vert="horz" lIns="91440" tIns="45720" rIns="91440" bIns="45720" rtlCol="0">
            <a:normAutofit/>
          </a:bodyPr>
          <a:lstStyle/>
          <a:p>
            <a:r>
              <a:rPr lang="en-US" dirty="0"/>
              <a:t>Overview </a:t>
            </a:r>
          </a:p>
        </p:txBody>
      </p:sp>
      <p:sp>
        <p:nvSpPr>
          <p:cNvPr id="5" name="Content Placeholder 4">
            <a:extLst>
              <a:ext uri="{FF2B5EF4-FFF2-40B4-BE49-F238E27FC236}">
                <a16:creationId xmlns:a16="http://schemas.microsoft.com/office/drawing/2014/main" id="{9E3C8BD7-D027-35B1-FE23-2935C511BCAB}"/>
              </a:ext>
            </a:extLst>
          </p:cNvPr>
          <p:cNvSpPr>
            <a:spLocks noGrp="1"/>
          </p:cNvSpPr>
          <p:nvPr>
            <p:ph idx="1"/>
          </p:nvPr>
        </p:nvSpPr>
        <p:spPr/>
        <p:txBody>
          <a:bodyPr>
            <a:normAutofit lnSpcReduction="10000"/>
          </a:bodyPr>
          <a:lstStyle/>
          <a:p>
            <a:pPr algn="l"/>
            <a:r>
              <a:rPr lang="en-US" sz="2000" dirty="0">
                <a:solidFill>
                  <a:schemeClr val="tx1"/>
                </a:solidFill>
                <a:effectLst/>
                <a:latin typeface="Times New Roman" panose="02020603050405020304" pitchFamily="18" charset="0"/>
                <a:cs typeface="Times New Roman" panose="02020603050405020304" pitchFamily="18" charset="0"/>
              </a:rPr>
              <a:t>We using </a:t>
            </a:r>
            <a:r>
              <a:rPr lang="en-US" sz="2000" b="0" i="0" dirty="0">
                <a:solidFill>
                  <a:schemeClr val="tx1"/>
                </a:solidFill>
                <a:effectLst/>
                <a:latin typeface="Times New Roman" panose="02020603050405020304" pitchFamily="18" charset="0"/>
                <a:cs typeface="Times New Roman" panose="02020603050405020304" pitchFamily="18" charset="0"/>
              </a:rPr>
              <a:t>dataset in a CSV file called sales_data.csv. It contains information about sales made by a fictional company over the course of a year. The column in the dataset are as follow:</a:t>
            </a:r>
          </a:p>
          <a:p>
            <a:pPr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Date: the date of the sale (in YYYY-MM-DD format)</a:t>
            </a:r>
          </a:p>
          <a:p>
            <a:pPr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Product: the name of the product sold</a:t>
            </a:r>
          </a:p>
          <a:p>
            <a:pPr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Category: the category of the product (e.</a:t>
            </a:r>
            <a:r>
              <a:rPr lang="en-US" sz="2000" dirty="0">
                <a:solidFill>
                  <a:schemeClr val="tx1"/>
                </a:solidFill>
                <a:effectLst/>
                <a:latin typeface="Times New Roman" panose="02020603050405020304" pitchFamily="18" charset="0"/>
                <a:cs typeface="Times New Roman" panose="02020603050405020304" pitchFamily="18" charset="0"/>
              </a:rPr>
              <a:t>g</a:t>
            </a:r>
            <a:r>
              <a:rPr lang="en-US" sz="2000" b="0" i="0" dirty="0">
                <a:solidFill>
                  <a:schemeClr val="tx1"/>
                </a:solidFill>
                <a:effectLst/>
                <a:latin typeface="Times New Roman" panose="02020603050405020304" pitchFamily="18" charset="0"/>
                <a:cs typeface="Times New Roman" panose="02020603050405020304" pitchFamily="18" charset="0"/>
              </a:rPr>
              <a:t> "Electronics", "clothing", etc.)</a:t>
            </a:r>
          </a:p>
          <a:p>
            <a:pPr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Price: the price of the product (in usd)</a:t>
            </a:r>
          </a:p>
          <a:p>
            <a:pPr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Quantity: the quantity of the product sold</a:t>
            </a:r>
          </a:p>
          <a:p>
            <a:pPr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Revenue: the total revenue generated by the sale (i.e., Price * quantity)</a:t>
            </a:r>
          </a:p>
          <a:p>
            <a:endParaRPr lang="en-US" dirty="0"/>
          </a:p>
        </p:txBody>
      </p:sp>
    </p:spTree>
    <p:extLst>
      <p:ext uri="{BB962C8B-B14F-4D97-AF65-F5344CB8AC3E}">
        <p14:creationId xmlns:p14="http://schemas.microsoft.com/office/powerpoint/2010/main" val="2933514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CDCE5-BCF8-6249-8845-375AA8B52EF4}"/>
              </a:ext>
            </a:extLst>
          </p:cNvPr>
          <p:cNvSpPr>
            <a:spLocks noGrp="1"/>
          </p:cNvSpPr>
          <p:nvPr>
            <p:ph type="title"/>
          </p:nvPr>
        </p:nvSpPr>
        <p:spPr/>
        <p:txBody>
          <a:bodyPr/>
          <a:lstStyle/>
          <a:p>
            <a:r>
              <a:rPr lang="en-US" dirty="0">
                <a:solidFill>
                  <a:schemeClr val="tx1"/>
                </a:solidFill>
              </a:rPr>
              <a:t>The purpose</a:t>
            </a:r>
          </a:p>
        </p:txBody>
      </p:sp>
      <p:sp>
        <p:nvSpPr>
          <p:cNvPr id="3" name="Content Placeholder 2">
            <a:extLst>
              <a:ext uri="{FF2B5EF4-FFF2-40B4-BE49-F238E27FC236}">
                <a16:creationId xmlns:a16="http://schemas.microsoft.com/office/drawing/2014/main" id="{CDE73BA9-FECE-7BD8-5CDE-9CB3FF200AC6}"/>
              </a:ext>
            </a:extLst>
          </p:cNvPr>
          <p:cNvSpPr>
            <a:spLocks noGrp="1"/>
          </p:cNvSpPr>
          <p:nvPr>
            <p:ph idx="1"/>
          </p:nvPr>
        </p:nvSpPr>
        <p:spPr>
          <a:xfrm>
            <a:off x="1066800" y="2093914"/>
            <a:ext cx="7434263" cy="2178050"/>
          </a:xfrm>
        </p:spPr>
        <p:txBody>
          <a:bodyPr/>
          <a:lstStyle/>
          <a:p>
            <a:r>
              <a:rPr lang="en-US" dirty="0">
                <a:latin typeface="Times New Roman" panose="02020603050405020304" pitchFamily="18" charset="0"/>
                <a:cs typeface="Times New Roman" panose="02020603050405020304" pitchFamily="18" charset="0"/>
              </a:rPr>
              <a:t>The purpose of this project to answers the all questions using Data Analysis skills and present our skills in form of graph or any other visualization .</a:t>
            </a:r>
          </a:p>
          <a:p>
            <a:endParaRPr lang="en-US" dirty="0"/>
          </a:p>
        </p:txBody>
      </p:sp>
    </p:spTree>
    <p:extLst>
      <p:ext uri="{BB962C8B-B14F-4D97-AF65-F5344CB8AC3E}">
        <p14:creationId xmlns:p14="http://schemas.microsoft.com/office/powerpoint/2010/main" val="490090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A1AB5-D32E-5F13-5BF7-56854A03F07E}"/>
              </a:ext>
            </a:extLst>
          </p:cNvPr>
          <p:cNvSpPr>
            <a:spLocks noGrp="1"/>
          </p:cNvSpPr>
          <p:nvPr>
            <p:ph type="title"/>
          </p:nvPr>
        </p:nvSpPr>
        <p:spPr>
          <a:xfrm>
            <a:off x="1097280" y="286603"/>
            <a:ext cx="10058400" cy="1199297"/>
          </a:xfrm>
        </p:spPr>
        <p:txBody>
          <a:bodyPr>
            <a:normAutofit/>
          </a:bodyPr>
          <a:lstStyle/>
          <a:p>
            <a:r>
              <a:rPr lang="en-US" sz="3200" dirty="0">
                <a:solidFill>
                  <a:schemeClr val="tx1"/>
                </a:solidFill>
              </a:rPr>
              <a:t>1.What was the total revenue generated by the company over the course of the year? </a:t>
            </a:r>
          </a:p>
        </p:txBody>
      </p:sp>
      <p:sp>
        <p:nvSpPr>
          <p:cNvPr id="3" name="Content Placeholder 2">
            <a:extLst>
              <a:ext uri="{FF2B5EF4-FFF2-40B4-BE49-F238E27FC236}">
                <a16:creationId xmlns:a16="http://schemas.microsoft.com/office/drawing/2014/main" id="{E90B7DB4-A63B-1663-A2EC-078FCDE7355B}"/>
              </a:ext>
            </a:extLst>
          </p:cNvPr>
          <p:cNvSpPr>
            <a:spLocks noGrp="1"/>
          </p:cNvSpPr>
          <p:nvPr>
            <p:ph idx="1"/>
          </p:nvPr>
        </p:nvSpPr>
        <p:spPr/>
        <p:txBody>
          <a:bodyPr/>
          <a:lstStyle/>
          <a:p>
            <a:r>
              <a:rPr lang="en-US"/>
              <a:t>Here is the total revenue generated by company over the year.</a:t>
            </a:r>
            <a:endParaRPr lang="en-US" dirty="0"/>
          </a:p>
        </p:txBody>
      </p:sp>
      <p:sp>
        <p:nvSpPr>
          <p:cNvPr id="5" name="TextBox 4">
            <a:extLst>
              <a:ext uri="{FF2B5EF4-FFF2-40B4-BE49-F238E27FC236}">
                <a16:creationId xmlns:a16="http://schemas.microsoft.com/office/drawing/2014/main" id="{4B237CF4-9FE2-1AF2-2292-772CF58FA2A3}"/>
              </a:ext>
            </a:extLst>
          </p:cNvPr>
          <p:cNvSpPr txBox="1"/>
          <p:nvPr/>
        </p:nvSpPr>
        <p:spPr>
          <a:xfrm>
            <a:off x="3046810" y="3244334"/>
            <a:ext cx="6093618" cy="369332"/>
          </a:xfrm>
          <a:prstGeom prst="rect">
            <a:avLst/>
          </a:prstGeom>
          <a:noFill/>
        </p:spPr>
        <p:txBody>
          <a:bodyPr wrap="square">
            <a:spAutoFit/>
          </a:bodyPr>
          <a:lstStyle/>
          <a:p>
            <a:r>
              <a:rPr lang="en-US"/>
              <a:t> </a:t>
            </a:r>
            <a:endParaRPr lang="en-US" dirty="0"/>
          </a:p>
        </p:txBody>
      </p:sp>
      <p:pic>
        <p:nvPicPr>
          <p:cNvPr id="7" name="Picture 6" descr="A picture containing text, screenshot, font, graphics&#10;&#10;Description automatically generated">
            <a:extLst>
              <a:ext uri="{FF2B5EF4-FFF2-40B4-BE49-F238E27FC236}">
                <a16:creationId xmlns:a16="http://schemas.microsoft.com/office/drawing/2014/main" id="{D11AE45D-48A8-2A0A-F602-D00F48F10DC8}"/>
              </a:ext>
            </a:extLst>
          </p:cNvPr>
          <p:cNvPicPr>
            <a:picLocks noChangeAspect="1"/>
          </p:cNvPicPr>
          <p:nvPr/>
        </p:nvPicPr>
        <p:blipFill>
          <a:blip r:embed="rId2"/>
          <a:stretch>
            <a:fillRect/>
          </a:stretch>
        </p:blipFill>
        <p:spPr>
          <a:xfrm>
            <a:off x="6158687" y="2913138"/>
            <a:ext cx="2981741" cy="1771897"/>
          </a:xfrm>
          <a:prstGeom prst="rect">
            <a:avLst/>
          </a:prstGeom>
        </p:spPr>
      </p:pic>
      <p:pic>
        <p:nvPicPr>
          <p:cNvPr id="9" name="Picture 8" descr="A number on a white background&#10;&#10;Description automatically generated with low confidence">
            <a:extLst>
              <a:ext uri="{FF2B5EF4-FFF2-40B4-BE49-F238E27FC236}">
                <a16:creationId xmlns:a16="http://schemas.microsoft.com/office/drawing/2014/main" id="{317C1E3C-3CA3-8F43-365A-5AD388E42DCD}"/>
              </a:ext>
            </a:extLst>
          </p:cNvPr>
          <p:cNvPicPr>
            <a:picLocks noChangeAspect="1"/>
          </p:cNvPicPr>
          <p:nvPr/>
        </p:nvPicPr>
        <p:blipFill>
          <a:blip r:embed="rId3"/>
          <a:stretch>
            <a:fillRect/>
          </a:stretch>
        </p:blipFill>
        <p:spPr>
          <a:xfrm>
            <a:off x="1648421" y="2930957"/>
            <a:ext cx="2796778" cy="1768366"/>
          </a:xfrm>
          <a:prstGeom prst="rect">
            <a:avLst/>
          </a:prstGeom>
        </p:spPr>
      </p:pic>
    </p:spTree>
    <p:extLst>
      <p:ext uri="{BB962C8B-B14F-4D97-AF65-F5344CB8AC3E}">
        <p14:creationId xmlns:p14="http://schemas.microsoft.com/office/powerpoint/2010/main" val="4004460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61634-E182-84C1-BE4B-A86A6F8CDAEB}"/>
              </a:ext>
            </a:extLst>
          </p:cNvPr>
          <p:cNvSpPr>
            <a:spLocks noGrp="1"/>
          </p:cNvSpPr>
          <p:nvPr>
            <p:ph type="title"/>
          </p:nvPr>
        </p:nvSpPr>
        <p:spPr/>
        <p:txBody>
          <a:bodyPr>
            <a:normAutofit/>
          </a:bodyPr>
          <a:lstStyle/>
          <a:p>
            <a:r>
              <a:rPr lang="en-US" sz="3200" dirty="0">
                <a:solidFill>
                  <a:schemeClr val="tx1"/>
                </a:solidFill>
              </a:rPr>
              <a:t>2</a:t>
            </a:r>
            <a:r>
              <a:rPr lang="en-US" dirty="0">
                <a:solidFill>
                  <a:schemeClr val="tx1"/>
                </a:solidFill>
              </a:rPr>
              <a:t>.</a:t>
            </a:r>
            <a:r>
              <a:rPr lang="en-US" sz="3200" dirty="0">
                <a:solidFill>
                  <a:schemeClr val="tx1"/>
                </a:solidFill>
                <a:latin typeface="Times New Roman" panose="02020603050405020304" pitchFamily="18" charset="0"/>
                <a:cs typeface="Times New Roman" panose="02020603050405020304" pitchFamily="18" charset="0"/>
              </a:rPr>
              <a:t>Which product had the highest revenue? How much revenue did it generate?</a:t>
            </a:r>
          </a:p>
        </p:txBody>
      </p:sp>
      <p:sp>
        <p:nvSpPr>
          <p:cNvPr id="3" name="Content Placeholder 2">
            <a:extLst>
              <a:ext uri="{FF2B5EF4-FFF2-40B4-BE49-F238E27FC236}">
                <a16:creationId xmlns:a16="http://schemas.microsoft.com/office/drawing/2014/main" id="{6799989A-61AA-D3C0-5731-424198B4AFD6}"/>
              </a:ext>
            </a:extLst>
          </p:cNvPr>
          <p:cNvSpPr>
            <a:spLocks noGrp="1"/>
          </p:cNvSpPr>
          <p:nvPr>
            <p:ph idx="1"/>
          </p:nvPr>
        </p:nvSpPr>
        <p:spPr/>
        <p:txBody>
          <a:bodyPr/>
          <a:lstStyle/>
          <a:p>
            <a:r>
              <a:rPr lang="en-US" dirty="0">
                <a:solidFill>
                  <a:srgbClr val="000000"/>
                </a:solidFill>
                <a:effectLst/>
              </a:rPr>
              <a:t>Smartphone had the highest revenue . That is $434.4k.</a:t>
            </a:r>
            <a:endParaRPr lang="en-US" dirty="0"/>
          </a:p>
          <a:p>
            <a:endParaRPr lang="en-US" dirty="0"/>
          </a:p>
        </p:txBody>
      </p:sp>
      <p:pic>
        <p:nvPicPr>
          <p:cNvPr id="5" name="Picture 4" descr="A picture containing text, screenshot, diagram, colorfulness&#10;&#10;Description automatically generated">
            <a:extLst>
              <a:ext uri="{FF2B5EF4-FFF2-40B4-BE49-F238E27FC236}">
                <a16:creationId xmlns:a16="http://schemas.microsoft.com/office/drawing/2014/main" id="{6D028F22-DE23-BB22-B7A7-998AB5309AAD}"/>
              </a:ext>
            </a:extLst>
          </p:cNvPr>
          <p:cNvPicPr>
            <a:picLocks noChangeAspect="1"/>
          </p:cNvPicPr>
          <p:nvPr/>
        </p:nvPicPr>
        <p:blipFill>
          <a:blip r:embed="rId2"/>
          <a:stretch>
            <a:fillRect/>
          </a:stretch>
        </p:blipFill>
        <p:spPr>
          <a:xfrm>
            <a:off x="1036320" y="2675528"/>
            <a:ext cx="4686300" cy="2964964"/>
          </a:xfrm>
          <a:prstGeom prst="rect">
            <a:avLst/>
          </a:prstGeom>
        </p:spPr>
      </p:pic>
      <p:pic>
        <p:nvPicPr>
          <p:cNvPr id="7" name="Picture 6" descr="A picture containing text, screenshot, plot, line&#10;&#10;Description automatically generated">
            <a:extLst>
              <a:ext uri="{FF2B5EF4-FFF2-40B4-BE49-F238E27FC236}">
                <a16:creationId xmlns:a16="http://schemas.microsoft.com/office/drawing/2014/main" id="{1222C05A-C422-8AA8-19C0-255DF9F15A50}"/>
              </a:ext>
            </a:extLst>
          </p:cNvPr>
          <p:cNvPicPr>
            <a:picLocks noChangeAspect="1"/>
          </p:cNvPicPr>
          <p:nvPr/>
        </p:nvPicPr>
        <p:blipFill>
          <a:blip r:embed="rId3"/>
          <a:stretch>
            <a:fillRect/>
          </a:stretch>
        </p:blipFill>
        <p:spPr>
          <a:xfrm>
            <a:off x="6035567" y="2675528"/>
            <a:ext cx="5059153" cy="3041172"/>
          </a:xfrm>
          <a:prstGeom prst="rect">
            <a:avLst/>
          </a:prstGeom>
        </p:spPr>
      </p:pic>
    </p:spTree>
    <p:extLst>
      <p:ext uri="{BB962C8B-B14F-4D97-AF65-F5344CB8AC3E}">
        <p14:creationId xmlns:p14="http://schemas.microsoft.com/office/powerpoint/2010/main" val="3416356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88D25-8BF9-17D6-49AF-040293175338}"/>
              </a:ext>
            </a:extLst>
          </p:cNvPr>
          <p:cNvSpPr>
            <a:spLocks noGrp="1"/>
          </p:cNvSpPr>
          <p:nvPr>
            <p:ph type="title"/>
          </p:nvPr>
        </p:nvSpPr>
        <p:spPr/>
        <p:txBody>
          <a:bodyPr>
            <a:normAutofit/>
          </a:bodyPr>
          <a:lstStyle/>
          <a:p>
            <a:r>
              <a:rPr lang="en-US" sz="3200" dirty="0">
                <a:solidFill>
                  <a:schemeClr val="tx1"/>
                </a:solidFill>
                <a:latin typeface="Times New Roman" panose="02020603050405020304" pitchFamily="18" charset="0"/>
                <a:cs typeface="Times New Roman" panose="02020603050405020304" pitchFamily="18" charset="0"/>
              </a:rPr>
              <a:t>3</a:t>
            </a:r>
            <a:r>
              <a:rPr lang="en-US" sz="3200" dirty="0">
                <a:solidFill>
                  <a:schemeClr val="tx1"/>
                </a:solidFill>
                <a:effectLst/>
                <a:latin typeface="Times New Roman" panose="02020603050405020304" pitchFamily="18" charset="0"/>
                <a:cs typeface="Times New Roman" panose="02020603050405020304" pitchFamily="18" charset="0"/>
              </a:rPr>
              <a:t>.What was the average price of a product sold by the company?</a:t>
            </a:r>
            <a:endParaRPr lang="en-US" sz="3200" dirty="0">
              <a:solidFill>
                <a:schemeClr val="tx1"/>
              </a:solidFill>
              <a:latin typeface="Times New Roman" panose="02020603050405020304" pitchFamily="18" charset="0"/>
              <a:cs typeface="Times New Roman" panose="02020603050405020304" pitchFamily="18" charset="0"/>
            </a:endParaRPr>
          </a:p>
        </p:txBody>
      </p:sp>
      <p:pic>
        <p:nvPicPr>
          <p:cNvPr id="5" name="Content Placeholder 4" descr="A blue paper with black text&#10;&#10;Description automatically generated with low confidence">
            <a:extLst>
              <a:ext uri="{FF2B5EF4-FFF2-40B4-BE49-F238E27FC236}">
                <a16:creationId xmlns:a16="http://schemas.microsoft.com/office/drawing/2014/main" id="{8BD7BAED-0405-86DA-575B-3254C90A0D35}"/>
              </a:ext>
            </a:extLst>
          </p:cNvPr>
          <p:cNvPicPr>
            <a:picLocks noGrp="1" noChangeAspect="1"/>
          </p:cNvPicPr>
          <p:nvPr>
            <p:ph idx="1"/>
          </p:nvPr>
        </p:nvPicPr>
        <p:blipFill>
          <a:blip r:embed="rId2"/>
          <a:stretch>
            <a:fillRect/>
          </a:stretch>
        </p:blipFill>
        <p:spPr>
          <a:xfrm>
            <a:off x="4625862" y="2207696"/>
            <a:ext cx="2417876" cy="2785507"/>
          </a:xfrm>
        </p:spPr>
      </p:pic>
    </p:spTree>
    <p:extLst>
      <p:ext uri="{BB962C8B-B14F-4D97-AF65-F5344CB8AC3E}">
        <p14:creationId xmlns:p14="http://schemas.microsoft.com/office/powerpoint/2010/main" val="5728926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30105-ADC9-DCF0-5F70-EAAA1DEBC562}"/>
              </a:ext>
            </a:extLst>
          </p:cNvPr>
          <p:cNvSpPr>
            <a:spLocks noGrp="1"/>
          </p:cNvSpPr>
          <p:nvPr>
            <p:ph type="title"/>
          </p:nvPr>
        </p:nvSpPr>
        <p:spPr/>
        <p:txBody>
          <a:bodyPr>
            <a:normAutofit/>
          </a:bodyPr>
          <a:lstStyle/>
          <a:p>
            <a:r>
              <a:rPr lang="en-US" sz="3600" dirty="0">
                <a:solidFill>
                  <a:schemeClr val="tx1"/>
                </a:solidFill>
                <a:latin typeface="Times New Roman" panose="02020603050405020304" pitchFamily="18" charset="0"/>
                <a:cs typeface="Times New Roman" panose="02020603050405020304" pitchFamily="18" charset="0"/>
              </a:rPr>
              <a:t>4</a:t>
            </a:r>
            <a:r>
              <a:rPr lang="en-US" sz="3600" dirty="0">
                <a:solidFill>
                  <a:schemeClr val="tx1"/>
                </a:solidFill>
                <a:effectLst/>
                <a:latin typeface="Times New Roman" panose="02020603050405020304" pitchFamily="18" charset="0"/>
                <a:cs typeface="Times New Roman" panose="02020603050405020304" pitchFamily="18" charset="0"/>
              </a:rPr>
              <a:t>.What was the total quantity of products sold by the company?</a:t>
            </a:r>
            <a:endParaRPr lang="en-US" sz="3600" dirty="0">
              <a:solidFill>
                <a:schemeClr val="tx1"/>
              </a:solidFill>
              <a:latin typeface="Times New Roman" panose="02020603050405020304" pitchFamily="18" charset="0"/>
              <a:cs typeface="Times New Roman" panose="02020603050405020304" pitchFamily="18" charset="0"/>
            </a:endParaRPr>
          </a:p>
        </p:txBody>
      </p:sp>
      <p:pic>
        <p:nvPicPr>
          <p:cNvPr id="5" name="Content Placeholder 4" descr="A blue background with black numbers and text&#10;&#10;Description automatically generated with low confidence">
            <a:extLst>
              <a:ext uri="{FF2B5EF4-FFF2-40B4-BE49-F238E27FC236}">
                <a16:creationId xmlns:a16="http://schemas.microsoft.com/office/drawing/2014/main" id="{B38723F6-63B7-2160-91AE-F618574674CB}"/>
              </a:ext>
            </a:extLst>
          </p:cNvPr>
          <p:cNvPicPr>
            <a:picLocks noGrp="1" noChangeAspect="1"/>
          </p:cNvPicPr>
          <p:nvPr>
            <p:ph idx="1"/>
          </p:nvPr>
        </p:nvPicPr>
        <p:blipFill>
          <a:blip r:embed="rId2"/>
          <a:stretch>
            <a:fillRect/>
          </a:stretch>
        </p:blipFill>
        <p:spPr>
          <a:xfrm>
            <a:off x="8069131" y="2335883"/>
            <a:ext cx="1886213" cy="1762371"/>
          </a:xfrm>
        </p:spPr>
      </p:pic>
      <p:sp>
        <p:nvSpPr>
          <p:cNvPr id="7" name="TextBox 6">
            <a:extLst>
              <a:ext uri="{FF2B5EF4-FFF2-40B4-BE49-F238E27FC236}">
                <a16:creationId xmlns:a16="http://schemas.microsoft.com/office/drawing/2014/main" id="{8C5697CB-14F1-3CE1-A526-4B2DA378FC8E}"/>
              </a:ext>
            </a:extLst>
          </p:cNvPr>
          <p:cNvSpPr txBox="1"/>
          <p:nvPr/>
        </p:nvSpPr>
        <p:spPr>
          <a:xfrm>
            <a:off x="1400176" y="3105835"/>
            <a:ext cx="5272088" cy="1200329"/>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Here is the quantity of all products of every category which are sold by company.</a:t>
            </a:r>
          </a:p>
        </p:txBody>
      </p:sp>
    </p:spTree>
    <p:extLst>
      <p:ext uri="{BB962C8B-B14F-4D97-AF65-F5344CB8AC3E}">
        <p14:creationId xmlns:p14="http://schemas.microsoft.com/office/powerpoint/2010/main" val="854138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EF8A4-F2E4-715A-121E-7F7FE533543F}"/>
              </a:ext>
            </a:extLst>
          </p:cNvPr>
          <p:cNvSpPr>
            <a:spLocks noGrp="1"/>
          </p:cNvSpPr>
          <p:nvPr>
            <p:ph type="title"/>
          </p:nvPr>
        </p:nvSpPr>
        <p:spPr/>
        <p:txBody>
          <a:bodyPr>
            <a:normAutofit fontScale="90000"/>
          </a:bodyPr>
          <a:lstStyle/>
          <a:p>
            <a:r>
              <a:rPr lang="en-US" sz="3600" dirty="0">
                <a:solidFill>
                  <a:srgbClr val="000000"/>
                </a:solidFill>
                <a:effectLst/>
                <a:latin typeface="Times New Roman" panose="02020603050405020304" pitchFamily="18" charset="0"/>
                <a:cs typeface="Times New Roman" panose="02020603050405020304" pitchFamily="18" charset="0"/>
              </a:rPr>
              <a:t>5.Which category had the highest revenue? How much revenue did it generate?</a:t>
            </a:r>
            <a:br>
              <a:rPr lang="en-US" dirty="0"/>
            </a:br>
            <a:endParaRPr lang="en-US" dirty="0"/>
          </a:p>
        </p:txBody>
      </p:sp>
      <p:pic>
        <p:nvPicPr>
          <p:cNvPr id="5" name="Content Placeholder 4" descr="A picture containing text, screenshot, plot, line&#10;&#10;Description automatically generated">
            <a:extLst>
              <a:ext uri="{FF2B5EF4-FFF2-40B4-BE49-F238E27FC236}">
                <a16:creationId xmlns:a16="http://schemas.microsoft.com/office/drawing/2014/main" id="{9EC34FB1-5F91-612E-A4E2-D8C4E132C01C}"/>
              </a:ext>
            </a:extLst>
          </p:cNvPr>
          <p:cNvPicPr>
            <a:picLocks noGrp="1" noChangeAspect="1"/>
          </p:cNvPicPr>
          <p:nvPr>
            <p:ph idx="1"/>
          </p:nvPr>
        </p:nvPicPr>
        <p:blipFill>
          <a:blip r:embed="rId2"/>
          <a:stretch>
            <a:fillRect/>
          </a:stretch>
        </p:blipFill>
        <p:spPr>
          <a:xfrm>
            <a:off x="5805804" y="2553486"/>
            <a:ext cx="4419600" cy="2743200"/>
          </a:xfrm>
        </p:spPr>
      </p:pic>
      <p:pic>
        <p:nvPicPr>
          <p:cNvPr id="7" name="Picture 6" descr="A picture containing text, screenshot, diagram, font&#10;&#10;Description automatically generated">
            <a:extLst>
              <a:ext uri="{FF2B5EF4-FFF2-40B4-BE49-F238E27FC236}">
                <a16:creationId xmlns:a16="http://schemas.microsoft.com/office/drawing/2014/main" id="{07CF495E-B10B-5425-6B32-473B2EDCC1C1}"/>
              </a:ext>
            </a:extLst>
          </p:cNvPr>
          <p:cNvPicPr>
            <a:picLocks noChangeAspect="1"/>
          </p:cNvPicPr>
          <p:nvPr/>
        </p:nvPicPr>
        <p:blipFill>
          <a:blip r:embed="rId3"/>
          <a:stretch>
            <a:fillRect/>
          </a:stretch>
        </p:blipFill>
        <p:spPr>
          <a:xfrm>
            <a:off x="1271271" y="2729532"/>
            <a:ext cx="4534533" cy="2391109"/>
          </a:xfrm>
          <a:prstGeom prst="rect">
            <a:avLst/>
          </a:prstGeom>
        </p:spPr>
      </p:pic>
      <p:sp>
        <p:nvSpPr>
          <p:cNvPr id="9" name="TextBox 8">
            <a:extLst>
              <a:ext uri="{FF2B5EF4-FFF2-40B4-BE49-F238E27FC236}">
                <a16:creationId xmlns:a16="http://schemas.microsoft.com/office/drawing/2014/main" id="{F7D8D982-4245-8AFF-B2CF-493C587718FC}"/>
              </a:ext>
            </a:extLst>
          </p:cNvPr>
          <p:cNvSpPr txBox="1"/>
          <p:nvPr/>
        </p:nvSpPr>
        <p:spPr>
          <a:xfrm>
            <a:off x="3054548" y="5586316"/>
            <a:ext cx="6103740"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Electronics accounted for 68.05% of Sum of revenue</a:t>
            </a:r>
          </a:p>
        </p:txBody>
      </p:sp>
    </p:spTree>
    <p:extLst>
      <p:ext uri="{BB962C8B-B14F-4D97-AF65-F5344CB8AC3E}">
        <p14:creationId xmlns:p14="http://schemas.microsoft.com/office/powerpoint/2010/main" val="2027940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51A31-BE47-36FE-9159-5E976167474E}"/>
              </a:ext>
            </a:extLst>
          </p:cNvPr>
          <p:cNvSpPr>
            <a:spLocks noGrp="1"/>
          </p:cNvSpPr>
          <p:nvPr>
            <p:ph type="title"/>
          </p:nvPr>
        </p:nvSpPr>
        <p:spPr>
          <a:xfrm>
            <a:off x="1097280" y="286603"/>
            <a:ext cx="10058400" cy="856397"/>
          </a:xfrm>
        </p:spPr>
        <p:txBody>
          <a:bodyPr>
            <a:normAutofit/>
          </a:bodyPr>
          <a:lstStyle/>
          <a:p>
            <a:r>
              <a:rPr lang="en-US" sz="3200" dirty="0">
                <a:solidFill>
                  <a:schemeClr val="tx1"/>
                </a:solidFill>
                <a:latin typeface="Times New Roman" panose="02020603050405020304" pitchFamily="18" charset="0"/>
                <a:cs typeface="Times New Roman" panose="02020603050405020304" pitchFamily="18" charset="0"/>
              </a:rPr>
              <a:t>6.What was the average revenue per sale?</a:t>
            </a:r>
          </a:p>
        </p:txBody>
      </p:sp>
      <p:pic>
        <p:nvPicPr>
          <p:cNvPr id="5" name="Content Placeholder 4" descr="A black text on a white background&#10;&#10;Description automatically generated with low confidence">
            <a:extLst>
              <a:ext uri="{FF2B5EF4-FFF2-40B4-BE49-F238E27FC236}">
                <a16:creationId xmlns:a16="http://schemas.microsoft.com/office/drawing/2014/main" id="{C399195F-E525-ED81-3D6E-639FFB7376CF}"/>
              </a:ext>
            </a:extLst>
          </p:cNvPr>
          <p:cNvPicPr>
            <a:picLocks noGrp="1" noChangeAspect="1"/>
          </p:cNvPicPr>
          <p:nvPr>
            <p:ph idx="1"/>
          </p:nvPr>
        </p:nvPicPr>
        <p:blipFill>
          <a:blip r:embed="rId2"/>
          <a:stretch>
            <a:fillRect/>
          </a:stretch>
        </p:blipFill>
        <p:spPr>
          <a:xfrm>
            <a:off x="4302009" y="2427648"/>
            <a:ext cx="3233724" cy="2002704"/>
          </a:xfrm>
        </p:spPr>
      </p:pic>
    </p:spTree>
    <p:extLst>
      <p:ext uri="{BB962C8B-B14F-4D97-AF65-F5344CB8AC3E}">
        <p14:creationId xmlns:p14="http://schemas.microsoft.com/office/powerpoint/2010/main" val="38410508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CAAD4-9277-2E80-08C9-2F203BA294E1}"/>
              </a:ext>
            </a:extLst>
          </p:cNvPr>
          <p:cNvSpPr>
            <a:spLocks noGrp="1"/>
          </p:cNvSpPr>
          <p:nvPr>
            <p:ph type="title"/>
          </p:nvPr>
        </p:nvSpPr>
        <p:spPr>
          <a:xfrm>
            <a:off x="1097280" y="286604"/>
            <a:ext cx="10058400" cy="1170722"/>
          </a:xfrm>
        </p:spPr>
        <p:txBody>
          <a:bodyPr>
            <a:normAutofit/>
          </a:bodyPr>
          <a:lstStyle/>
          <a:p>
            <a:r>
              <a:rPr lang="en-US" sz="3200" dirty="0">
                <a:latin typeface="Times New Roman" panose="02020603050405020304" pitchFamily="18" charset="0"/>
                <a:cs typeface="Times New Roman" panose="02020603050405020304" pitchFamily="18" charset="0"/>
              </a:rPr>
              <a:t>7.What was the total revenue generated in each quarter of the year? (i.e., Q1, Q2, Q3, Q4)</a:t>
            </a:r>
          </a:p>
        </p:txBody>
      </p:sp>
      <p:pic>
        <p:nvPicPr>
          <p:cNvPr id="5" name="Content Placeholder 4" descr="A screenshot of a graph&#10;&#10;Description automatically generated with low confidence">
            <a:extLst>
              <a:ext uri="{FF2B5EF4-FFF2-40B4-BE49-F238E27FC236}">
                <a16:creationId xmlns:a16="http://schemas.microsoft.com/office/drawing/2014/main" id="{2C55EAEA-20F5-FA21-29AF-7BF1BFADD8B5}"/>
              </a:ext>
            </a:extLst>
          </p:cNvPr>
          <p:cNvPicPr>
            <a:picLocks noGrp="1" noChangeAspect="1"/>
          </p:cNvPicPr>
          <p:nvPr>
            <p:ph idx="1"/>
          </p:nvPr>
        </p:nvPicPr>
        <p:blipFill>
          <a:blip r:embed="rId2"/>
          <a:stretch>
            <a:fillRect/>
          </a:stretch>
        </p:blipFill>
        <p:spPr>
          <a:xfrm>
            <a:off x="5566303" y="2520144"/>
            <a:ext cx="5124735" cy="2562368"/>
          </a:xfrm>
        </p:spPr>
      </p:pic>
      <p:pic>
        <p:nvPicPr>
          <p:cNvPr id="7" name="Picture 6" descr="A picture containing text, screenshot, diagram, font&#10;&#10;Description automatically generated">
            <a:extLst>
              <a:ext uri="{FF2B5EF4-FFF2-40B4-BE49-F238E27FC236}">
                <a16:creationId xmlns:a16="http://schemas.microsoft.com/office/drawing/2014/main" id="{6CAF0F74-7D70-598C-1C93-5F14C6F6F557}"/>
              </a:ext>
            </a:extLst>
          </p:cNvPr>
          <p:cNvPicPr>
            <a:picLocks noChangeAspect="1"/>
          </p:cNvPicPr>
          <p:nvPr/>
        </p:nvPicPr>
        <p:blipFill>
          <a:blip r:embed="rId3"/>
          <a:stretch>
            <a:fillRect/>
          </a:stretch>
        </p:blipFill>
        <p:spPr>
          <a:xfrm>
            <a:off x="1668780" y="2300089"/>
            <a:ext cx="3217545" cy="3194116"/>
          </a:xfrm>
          <a:prstGeom prst="rect">
            <a:avLst/>
          </a:prstGeom>
        </p:spPr>
      </p:pic>
    </p:spTree>
    <p:extLst>
      <p:ext uri="{BB962C8B-B14F-4D97-AF65-F5344CB8AC3E}">
        <p14:creationId xmlns:p14="http://schemas.microsoft.com/office/powerpoint/2010/main" val="34765680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1191A-B03B-50AD-911C-1FF0C093DA92}"/>
              </a:ext>
            </a:extLst>
          </p:cNvPr>
          <p:cNvSpPr>
            <a:spLocks noGrp="1"/>
          </p:cNvSpPr>
          <p:nvPr>
            <p:ph type="title"/>
          </p:nvPr>
        </p:nvSpPr>
        <p:spPr/>
        <p:txBody>
          <a:bodyPr>
            <a:normAutofit/>
          </a:bodyPr>
          <a:lstStyle/>
          <a:p>
            <a:r>
              <a:rPr lang="en-US" sz="3200" dirty="0">
                <a:solidFill>
                  <a:schemeClr val="tx1"/>
                </a:solidFill>
                <a:latin typeface="Times New Roman" panose="02020603050405020304" pitchFamily="18" charset="0"/>
                <a:cs typeface="Times New Roman" panose="02020603050405020304" pitchFamily="18" charset="0"/>
              </a:rPr>
              <a:t>Summary</a:t>
            </a:r>
          </a:p>
        </p:txBody>
      </p:sp>
      <p:sp>
        <p:nvSpPr>
          <p:cNvPr id="3" name="Content Placeholder 2">
            <a:extLst>
              <a:ext uri="{FF2B5EF4-FFF2-40B4-BE49-F238E27FC236}">
                <a16:creationId xmlns:a16="http://schemas.microsoft.com/office/drawing/2014/main" id="{D3FB6BDB-CF9A-B93C-DF42-053D14ECFDB1}"/>
              </a:ext>
            </a:extLst>
          </p:cNvPr>
          <p:cNvSpPr>
            <a:spLocks noGrp="1"/>
          </p:cNvSpPr>
          <p:nvPr>
            <p:ph idx="1"/>
          </p:nvPr>
        </p:nvSpPr>
        <p:spPr/>
        <p:txBody>
          <a:bodyPr>
            <a:normAutofit/>
          </a:bodyPr>
          <a:lstStyle/>
          <a:p>
            <a:r>
              <a:rPr lang="en-US" dirty="0">
                <a:solidFill>
                  <a:schemeClr val="tx1"/>
                </a:solidFill>
                <a:effectLst/>
              </a:rPr>
              <a:t>﻿</a:t>
            </a:r>
            <a:r>
              <a:rPr lang="en-US" sz="2400" dirty="0">
                <a:solidFill>
                  <a:schemeClr val="tx1"/>
                </a:solidFill>
                <a:effectLst/>
                <a:latin typeface="Times New Roman" panose="02020603050405020304" pitchFamily="18" charset="0"/>
                <a:cs typeface="Times New Roman" panose="02020603050405020304" pitchFamily="18" charset="0"/>
              </a:rPr>
              <a:t>We successfully find all the answers of  question related to this project. We easily find the total revenue ,revenue by product and category, sold quantity, average revenue per sale and revenue per quarter. At 7.45%, qtr 3 had the highest total revenue QoQ% and was 575.22% higher than qtr 4, which had the lowest total revenue QoQ% at -1.57%.﻿Qtr 3 had the highest total revenue QoQ% at 7.45%, followed by qtr 2 at 1.03% and qtr 4 at -1.57%.﻿Qtr 2 had 1.03% total revenue QoQ%, qtr 3 had 7.45%, and qtr 4 had -1.57%.</a:t>
            </a:r>
            <a:endParaRPr lang="en-US" sz="2400" dirty="0">
              <a:solidFill>
                <a:schemeClr val="tx1"/>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677635353"/>
      </p:ext>
    </p:extLst>
  </p:cSld>
  <p:clrMapOvr>
    <a:masterClrMapping/>
  </p:clrMapOvr>
</p:sld>
</file>

<file path=ppt/theme/theme1.xml><?xml version="1.0" encoding="utf-8"?>
<a:theme xmlns:a="http://schemas.openxmlformats.org/drawingml/2006/main" name="1_RetrospectVTI">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Override1.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2.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A3F7EDC-E5B4-4BBC-9D2A-CBE6D46C37AD}">
  <ds:schemaRefs>
    <ds:schemaRef ds:uri="http://schemas.microsoft.com/sharepoint/v3/contenttype/forms"/>
  </ds:schemaRefs>
</ds:datastoreItem>
</file>

<file path=customXml/itemProps2.xml><?xml version="1.0" encoding="utf-8"?>
<ds:datastoreItem xmlns:ds="http://schemas.openxmlformats.org/officeDocument/2006/customXml" ds:itemID="{A03EEFF0-FB57-4CB4-8BFC-DF397689E2ED}">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93932EF5-314F-409E-8020-FEE5FA0795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{FADB3C79-B1D2-4742-B1C4-0F5E9294A7F4}tf22712842_win32</Template>
  <TotalTime>40</TotalTime>
  <Words>437</Words>
  <Application>Microsoft Office PowerPoint</Application>
  <PresentationFormat>Widescreen</PresentationFormat>
  <Paragraphs>26</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Bookman Old Style</vt:lpstr>
      <vt:lpstr>Calibri</vt:lpstr>
      <vt:lpstr>Franklin Gothic Book</vt:lpstr>
      <vt:lpstr>Times New Roman</vt:lpstr>
      <vt:lpstr>1_RetrospectVTI</vt:lpstr>
      <vt:lpstr>Sales Data Analysis </vt:lpstr>
      <vt:lpstr>Overview </vt:lpstr>
      <vt:lpstr>The purpose</vt:lpstr>
      <vt:lpstr>1.What was the total revenue generated by the company over the course of the year? </vt:lpstr>
      <vt:lpstr>2.Which product had the highest revenue? How much revenue did it generate?</vt:lpstr>
      <vt:lpstr>3.What was the average price of a product sold by the company?</vt:lpstr>
      <vt:lpstr>4.What was the total quantity of products sold by the company?</vt:lpstr>
      <vt:lpstr>5.Which category had the highest revenue? How much revenue did it generate? </vt:lpstr>
      <vt:lpstr>6.What was the average revenue per sale?</vt:lpstr>
      <vt:lpstr>7.What was the total revenue generated in each quarter of the year? (i.e., Q1, Q2, Q3, Q4)</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Data Analysis </dc:title>
  <dc:creator>abdul</dc:creator>
  <cp:lastModifiedBy>abdul</cp:lastModifiedBy>
  <cp:revision>2</cp:revision>
  <dcterms:created xsi:type="dcterms:W3CDTF">2023-06-07T14:48:26Z</dcterms:created>
  <dcterms:modified xsi:type="dcterms:W3CDTF">2023-06-08T07:52:27Z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